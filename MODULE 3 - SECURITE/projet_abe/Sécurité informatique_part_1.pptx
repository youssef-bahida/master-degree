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77" r:id="rId9"/>
    <p:sldId id="278" r:id="rId10"/>
    <p:sldId id="275" r:id="rId11"/>
    <p:sldId id="279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B7550B4-6E85-6A1C-B430-3EDB0526FA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D38E2A6-938A-D7A3-B633-583A0CBF58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763F8-B5F1-4FBC-94A0-AC821A42B547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5F4835-A1D5-EC8F-A9D6-C3D97821A7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E2A820-9436-1D4A-E500-16AA8FF98F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7AA8A-B4D6-4DA6-94CF-009E0F4E8B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1260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5B4B2-2DA0-4545-97C0-1C0E2A57C39B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54037-80A7-4EEF-8B71-14DFB028A5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241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54037-80A7-4EEF-8B71-14DFB028A55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087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54037-80A7-4EEF-8B71-14DFB028A55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167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54037-80A7-4EEF-8B71-14DFB028A55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307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54037-80A7-4EEF-8B71-14DFB028A55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93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54037-80A7-4EEF-8B71-14DFB028A55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888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1D692-6039-3D82-EA6F-632E4A61E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7A159D-520C-A033-DCB0-A494D9046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7FD231-B62E-C047-725E-04D53B7D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B10C-AC13-4497-9A04-EFB76387BCB2}" type="datetime1">
              <a:rPr lang="fr-FR" smtClean="0"/>
              <a:t>18/04/2026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CA5359-567B-C945-D5B9-5736B346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320128-A17E-D67F-2F33-F8761A93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548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1B4CD2-7677-BA5D-BF30-904B3F45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D282E3-0EF7-6B23-0572-0C618E18B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58A12F-ACC2-F834-E362-BB96256F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614C-DA0A-4500-A3AF-B2BA41AC2CAC}" type="datetime1">
              <a:rPr lang="fr-FR" smtClean="0"/>
              <a:t>18/04/2026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121701-224A-A2AC-6368-DE6E587C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4A1506-0F75-EBDD-4B04-02A93CA1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05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9B444-5F93-3282-E610-BBC65E31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616E6A-2EFE-5F0E-811A-45D1AF866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0B8CDC-D5D4-9CE1-1447-2E7AEDEE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33AE-E00E-4559-8968-0DB43C5FFDB6}" type="datetime1">
              <a:rPr lang="fr-FR" smtClean="0"/>
              <a:t>18/04/2026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E4FB13-51F6-67B8-D6D5-F23D30BD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DD81E-9961-2D09-B1F7-BA87EBE7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98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6B9FE-F7D3-E3C3-BA98-EC761015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ED937D-D650-04B6-B46B-1C418C0F2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48FAD4-D3A5-5CB4-5063-100896B5A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086714-232F-E779-F8F0-AEFCDFB7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5288-4558-4199-92A9-4887072E526C}" type="datetime1">
              <a:rPr lang="fr-FR" smtClean="0"/>
              <a:t>18/04/2026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94D28E-19D8-DEC5-6175-B38F7883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8DE7C6-41CC-6BB3-76DE-3C267D5F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52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4DEFA-5494-1BB8-B9F4-2DD51536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BC0425-6482-8DC2-1812-A93B1D93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AA495A-9DB8-94BC-A1D7-00EE16EE8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80979D9-523B-6A85-411A-E1808FE52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1E71773-571E-C2BE-D180-F0E83B3C0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DBF54F9-A601-6A5C-1BFA-140CBBE8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C07D1-3C2C-4883-A7C3-0604E693A1ED}" type="datetime1">
              <a:rPr lang="fr-FR" smtClean="0"/>
              <a:t>18/04/2026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631F90-F448-83DB-CA13-0D67B4EB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AA399B6-70A7-0F65-A5E4-F01373DD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16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AF5674-B225-79C2-AF6F-32B62EE8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2DF879-A3E9-D786-CAD7-C1192F44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4619-48BB-41AD-B06E-13755CAE9B2D}" type="datetime1">
              <a:rPr lang="fr-FR" smtClean="0"/>
              <a:t>18/04/2026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6D54F3-97BC-A79B-F02D-DE0DED12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194E39-C4F1-5319-7C8F-702D88E8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74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FE448B-EBE9-E77C-9D37-FB3D3F24B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B9A2-52AB-438E-A28E-3522AFF1F28E}" type="datetime1">
              <a:rPr lang="fr-FR" smtClean="0"/>
              <a:t>18/04/2026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93250F-8E37-458C-3191-EDB6B75B1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872626-85B5-1919-3837-FC3A4B81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63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DE96B-C6BC-A80E-17A6-EBDDBC41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47C70E-6B5F-B4C2-A31F-FCB4142F3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075F86-6C8D-BDDE-8961-99367258C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58EF73-3E2D-A0A6-B23E-BF3EDE79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7A1A-D2F6-46ED-8728-EB3CC7E7D512}" type="datetime1">
              <a:rPr lang="fr-FR" smtClean="0"/>
              <a:t>18/04/2026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6ACB7-4153-1127-CD0B-33C23513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7AE3C2-A894-133F-7B63-E1731A98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2B575-54BB-5B5D-CA93-81A1C4D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D99044B-72E7-04D5-CA28-26FBA47BF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A733F2-1426-2A8B-04CA-86359C101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BC19D0-747F-436E-FF1E-6691E724B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F5618-9A8D-4849-9E6D-B31481297162}" type="datetime1">
              <a:rPr lang="fr-FR" smtClean="0"/>
              <a:t>18/04/2026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76735D-CF42-25DC-86CC-48A4C73B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9E0AFB-C480-F8D9-DC67-92EB24E3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08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8F48B-D96C-6347-931C-4EA603A2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85ACAC-80D8-386E-6631-7B32D5F14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40A9B8-B2FC-1005-AFD0-0D579B91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AABB-C07E-4A54-824E-5CA9501DB491}" type="datetime1">
              <a:rPr lang="fr-FR" smtClean="0"/>
              <a:t>18/04/2026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E85C86-C5A0-87C8-491F-9CF72155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5ECA19-6263-02F2-901B-3B5ABC5B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6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0E96F75-B783-11D4-8B9A-900067FE4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A78362-3F98-6EB8-F3E0-466B52308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E5E28F-CA5B-F1AC-4931-CC7A37C9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E919-00F0-4EA8-9511-59D9F2A36558}" type="datetime1">
              <a:rPr lang="fr-FR" smtClean="0"/>
              <a:t>18/04/2026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78A92D-D18E-9A79-AFE7-0FD25960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Attributes based Encryption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848A85-6B6B-5917-DE96-F6E8E33F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569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705270C-C5E8-5B1A-EC22-483D5655C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B828C9-4A7A-C03A-F820-72530F246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1F8417-7278-5876-714E-9DEA44911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1920A-55F3-464E-AC01-08F99DC9FEFF}" type="datetime1">
              <a:rPr lang="fr-FR" smtClean="0"/>
              <a:t>18/04/2026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FEA2B5-55FB-C995-4521-F1B95B8E8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Attributes based Encryption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013AC6-25C7-3B16-38BE-6CAC88B50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E75BF-0946-4FDF-96EE-3EB0DFEFB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78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2.mp4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C2B824F-281B-45EA-B088-C8CB3B93F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496" y="331014"/>
            <a:ext cx="3900207" cy="1023203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45A9C9A-E9DF-0CDF-F6F0-F8B0CBADE88D}"/>
              </a:ext>
            </a:extLst>
          </p:cNvPr>
          <p:cNvSpPr/>
          <p:nvPr/>
        </p:nvSpPr>
        <p:spPr>
          <a:xfrm>
            <a:off x="2444614" y="2155907"/>
            <a:ext cx="6951724" cy="893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Chiffrement par Attributs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F6E23E2-C3B6-739D-848B-C40AF33A5D05}"/>
              </a:ext>
            </a:extLst>
          </p:cNvPr>
          <p:cNvSpPr txBox="1"/>
          <p:nvPr/>
        </p:nvSpPr>
        <p:spPr>
          <a:xfrm>
            <a:off x="1656267" y="3376789"/>
            <a:ext cx="8510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en Système d’information Décisionnel et Imagerie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736689F-E557-3CD4-084F-5F05D9D9C215}"/>
              </a:ext>
            </a:extLst>
          </p:cNvPr>
          <p:cNvSpPr txBox="1"/>
          <p:nvPr/>
        </p:nvSpPr>
        <p:spPr>
          <a:xfrm>
            <a:off x="2953897" y="3942876"/>
            <a:ext cx="591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: Sécurité des Systèmes Informatiques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71F3244-1189-FD19-2002-93345BE76C31}"/>
              </a:ext>
            </a:extLst>
          </p:cNvPr>
          <p:cNvSpPr txBox="1"/>
          <p:nvPr/>
        </p:nvSpPr>
        <p:spPr>
          <a:xfrm>
            <a:off x="4234213" y="6488668"/>
            <a:ext cx="317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2025-2026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D9CA811-4BD9-0DAD-9F50-5B70C05278FB}"/>
              </a:ext>
            </a:extLst>
          </p:cNvPr>
          <p:cNvSpPr txBox="1"/>
          <p:nvPr/>
        </p:nvSpPr>
        <p:spPr>
          <a:xfrm>
            <a:off x="444929" y="5206231"/>
            <a:ext cx="3700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Responsable :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Prof. AMOUNAS Fatima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1FDD79-7479-514B-5C9E-BD8795518D71}"/>
              </a:ext>
            </a:extLst>
          </p:cNvPr>
          <p:cNvSpPr txBox="1"/>
          <p:nvPr/>
        </p:nvSpPr>
        <p:spPr>
          <a:xfrm>
            <a:off x="8145784" y="5206231"/>
            <a:ext cx="370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Réalisé par :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M. BEN SEKKOU  Yassine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M. BAHIDA Youssef</a:t>
            </a:r>
          </a:p>
        </p:txBody>
      </p:sp>
    </p:spTree>
    <p:extLst>
      <p:ext uri="{BB962C8B-B14F-4D97-AF65-F5344CB8AC3E}">
        <p14:creationId xmlns:p14="http://schemas.microsoft.com/office/powerpoint/2010/main" val="229547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7AB9-3982-E058-CBBB-93C6261A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79B949-BE2F-9DA1-2CC3-8FC2690B9BDE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60B3E00-7136-4C52-E0F9-81E16B377621}"/>
              </a:ext>
            </a:extLst>
          </p:cNvPr>
          <p:cNvSpPr/>
          <p:nvPr/>
        </p:nvSpPr>
        <p:spPr>
          <a:xfrm>
            <a:off x="949909" y="1237696"/>
            <a:ext cx="639194" cy="585926"/>
          </a:xfrm>
          <a:prstGeom prst="ellipse">
            <a:avLst/>
          </a:prstGeom>
          <a:ln w="28575"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EFAC288-7874-71EE-8248-4060DBFB42FB}"/>
              </a:ext>
            </a:extLst>
          </p:cNvPr>
          <p:cNvSpPr/>
          <p:nvPr/>
        </p:nvSpPr>
        <p:spPr>
          <a:xfrm>
            <a:off x="949909" y="2082923"/>
            <a:ext cx="639194" cy="585926"/>
          </a:xfrm>
          <a:prstGeom prst="ellipse">
            <a:avLst/>
          </a:prstGeom>
          <a:ln w="28575"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86217DF-9D5B-A4D4-2569-57CE72154024}"/>
              </a:ext>
            </a:extLst>
          </p:cNvPr>
          <p:cNvSpPr/>
          <p:nvPr/>
        </p:nvSpPr>
        <p:spPr>
          <a:xfrm>
            <a:off x="949909" y="2928150"/>
            <a:ext cx="639194" cy="585926"/>
          </a:xfrm>
          <a:prstGeom prst="ellipse">
            <a:avLst/>
          </a:prstGeom>
          <a:ln w="28575"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9C9DBBE-C885-879C-061E-F963A3A53B82}"/>
              </a:ext>
            </a:extLst>
          </p:cNvPr>
          <p:cNvSpPr/>
          <p:nvPr/>
        </p:nvSpPr>
        <p:spPr>
          <a:xfrm>
            <a:off x="949909" y="3862525"/>
            <a:ext cx="639194" cy="585926"/>
          </a:xfrm>
          <a:prstGeom prst="ellipse">
            <a:avLst/>
          </a:prstGeom>
          <a:ln w="28575"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B5E66E3-C244-526D-9E76-628B38894A67}"/>
              </a:ext>
            </a:extLst>
          </p:cNvPr>
          <p:cNvSpPr/>
          <p:nvPr/>
        </p:nvSpPr>
        <p:spPr>
          <a:xfrm>
            <a:off x="949909" y="4776925"/>
            <a:ext cx="639194" cy="585926"/>
          </a:xfrm>
          <a:prstGeom prst="ellipse">
            <a:avLst/>
          </a:prstGeom>
          <a:ln w="28575"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4D34C0E-3043-A660-3A1B-9C002F9CCC75}"/>
              </a:ext>
            </a:extLst>
          </p:cNvPr>
          <p:cNvSpPr/>
          <p:nvPr/>
        </p:nvSpPr>
        <p:spPr>
          <a:xfrm>
            <a:off x="949909" y="5691325"/>
            <a:ext cx="639194" cy="585926"/>
          </a:xfrm>
          <a:prstGeom prst="ellipse">
            <a:avLst/>
          </a:prstGeom>
          <a:ln w="28575"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463D773-8CFB-EE77-CC83-410E113EEA3B}"/>
              </a:ext>
            </a:extLst>
          </p:cNvPr>
          <p:cNvSpPr txBox="1"/>
          <p:nvPr/>
        </p:nvSpPr>
        <p:spPr>
          <a:xfrm>
            <a:off x="1855429" y="1242547"/>
            <a:ext cx="2212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40F3A17-CE84-4011-54D9-B505021A2820}"/>
              </a:ext>
            </a:extLst>
          </p:cNvPr>
          <p:cNvSpPr txBox="1"/>
          <p:nvPr/>
        </p:nvSpPr>
        <p:spPr>
          <a:xfrm>
            <a:off x="1855429" y="2084074"/>
            <a:ext cx="4181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de base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6BC5931-7006-E670-8328-827F0D7EE0B5}"/>
              </a:ext>
            </a:extLst>
          </p:cNvPr>
          <p:cNvSpPr txBox="1"/>
          <p:nvPr/>
        </p:nvSpPr>
        <p:spPr>
          <a:xfrm>
            <a:off x="1855429" y="2924450"/>
            <a:ext cx="6128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 ABE et ses schémas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4C3DA77-5570-2010-0B8C-7765203B9BAB}"/>
              </a:ext>
            </a:extLst>
          </p:cNvPr>
          <p:cNvSpPr txBox="1"/>
          <p:nvPr/>
        </p:nvSpPr>
        <p:spPr>
          <a:xfrm>
            <a:off x="1855429" y="3863676"/>
            <a:ext cx="4174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et améliorations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A19E922-B182-8D74-A964-591777B4F079}"/>
              </a:ext>
            </a:extLst>
          </p:cNvPr>
          <p:cNvSpPr txBox="1"/>
          <p:nvPr/>
        </p:nvSpPr>
        <p:spPr>
          <a:xfrm>
            <a:off x="1855429" y="4778076"/>
            <a:ext cx="2299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175714A-FE0E-2AEC-A44C-15D7EC32EF15}"/>
              </a:ext>
            </a:extLst>
          </p:cNvPr>
          <p:cNvSpPr txBox="1"/>
          <p:nvPr/>
        </p:nvSpPr>
        <p:spPr>
          <a:xfrm>
            <a:off x="1855429" y="5618452"/>
            <a:ext cx="2055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C568CF-8156-1F5B-F549-A5768CCDA9E0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7226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00468-A0C9-B70B-F69E-6171B1F0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C7A6BD-6B22-F18F-80D3-AFE1BA46D4E2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7DDBFA-BAF2-9AD9-C2E5-24F8FED4E5DC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5073056-BE6B-1208-161F-2F1B75C5506A}"/>
              </a:ext>
            </a:extLst>
          </p:cNvPr>
          <p:cNvSpPr txBox="1"/>
          <p:nvPr/>
        </p:nvSpPr>
        <p:spPr>
          <a:xfrm>
            <a:off x="676275" y="1466850"/>
            <a:ext cx="108394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L’essor rapide de l’Internet des objets (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 conduit à l’émergence de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systèmes modernes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interconnectés, reliant des milliards d’appareils intelligents dans divers domaines tels que la santé, les villes intelligentes, l’industrie, etc.</a:t>
            </a: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Cependant, ces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IoT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grande échelle introduisent des défis critiques en matière de sécurité et de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contrôle d’accès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notamment dans des environnements caractérisés par un grand nombre d’utilisateurs, souvent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dynamiques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hétérogènes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Dans ce contexte, plusieurs approches cryptographiques ont été proposées afin de répondre aux problématiques liées au contrôle d’accès dans ces environnements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Parmi celles-ci le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chiffrement basé sur les attributs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(Attribute-Based Encryption,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introduit par Amit Sahai et Brent Waters en 2005, qui s’inscrit dans la catégorie de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chiffrement asymétrique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955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41B7-30D1-DC18-3E3E-3E0A98AF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138B62-A4D6-E860-443B-6A1E00951EC5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598575-534B-C217-570B-B5CF20DA8BC3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de base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7B1C144-2C46-669F-5E1E-4A23B11EE16A}"/>
              </a:ext>
            </a:extLst>
          </p:cNvPr>
          <p:cNvSpPr txBox="1"/>
          <p:nvPr/>
        </p:nvSpPr>
        <p:spPr>
          <a:xfrm>
            <a:off x="1162050" y="1186160"/>
            <a:ext cx="9839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IoT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d’objets physiques connectés capables de collecter, échanger </a:t>
            </a: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et exploiter des données.</a:t>
            </a:r>
          </a:p>
        </p:txBody>
      </p:sp>
      <p:sp>
        <p:nvSpPr>
          <p:cNvPr id="13" name="Organigramme : Décision 12">
            <a:extLst>
              <a:ext uri="{FF2B5EF4-FFF2-40B4-BE49-F238E27FC236}">
                <a16:creationId xmlns:a16="http://schemas.microsoft.com/office/drawing/2014/main" id="{172C52C4-FC1E-94D7-7124-357A071D6C53}"/>
              </a:ext>
            </a:extLst>
          </p:cNvPr>
          <p:cNvSpPr/>
          <p:nvPr/>
        </p:nvSpPr>
        <p:spPr>
          <a:xfrm>
            <a:off x="1266826" y="1274760"/>
            <a:ext cx="323850" cy="326898"/>
          </a:xfrm>
          <a:prstGeom prst="flowChartDecision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55B459A-2CF6-14DC-04AB-2AD2C43069FB}"/>
              </a:ext>
            </a:extLst>
          </p:cNvPr>
          <p:cNvSpPr txBox="1"/>
          <p:nvPr/>
        </p:nvSpPr>
        <p:spPr>
          <a:xfrm>
            <a:off x="1162049" y="2065681"/>
            <a:ext cx="102108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Chiffrement asymétrique :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transformation de données lisibles en une forme </a:t>
            </a: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illisible, en utilisant une paire de clés liées mathématiquement : une clé </a:t>
            </a: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publique pour chiffrer les données et une clé privée pour les déchiffrer.</a:t>
            </a:r>
          </a:p>
        </p:txBody>
      </p:sp>
      <p:sp>
        <p:nvSpPr>
          <p:cNvPr id="15" name="Organigramme : Décision 14">
            <a:extLst>
              <a:ext uri="{FF2B5EF4-FFF2-40B4-BE49-F238E27FC236}">
                <a16:creationId xmlns:a16="http://schemas.microsoft.com/office/drawing/2014/main" id="{FC0F5265-1981-0B05-4AC5-352EF413F0D0}"/>
              </a:ext>
            </a:extLst>
          </p:cNvPr>
          <p:cNvSpPr/>
          <p:nvPr/>
        </p:nvSpPr>
        <p:spPr>
          <a:xfrm>
            <a:off x="1276351" y="2148448"/>
            <a:ext cx="323850" cy="326898"/>
          </a:xfrm>
          <a:prstGeom prst="flowChartDecision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94161AF-0F6F-5D57-9136-7D385345DE6D}"/>
              </a:ext>
            </a:extLst>
          </p:cNvPr>
          <p:cNvSpPr txBox="1"/>
          <p:nvPr/>
        </p:nvSpPr>
        <p:spPr>
          <a:xfrm>
            <a:off x="1162049" y="3400159"/>
            <a:ext cx="10382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Attributs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de propriétés ou caractéristiques (ex : rôle, localisation, </a:t>
            </a: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statut) utilisées pour décrire un utilisateur ou une ressource.</a:t>
            </a:r>
          </a:p>
        </p:txBody>
      </p:sp>
      <p:sp>
        <p:nvSpPr>
          <p:cNvPr id="18" name="Organigramme : Décision 17">
            <a:extLst>
              <a:ext uri="{FF2B5EF4-FFF2-40B4-BE49-F238E27FC236}">
                <a16:creationId xmlns:a16="http://schemas.microsoft.com/office/drawing/2014/main" id="{0962B38B-DCDB-0328-9DF7-358CB7A543D5}"/>
              </a:ext>
            </a:extLst>
          </p:cNvPr>
          <p:cNvSpPr/>
          <p:nvPr/>
        </p:nvSpPr>
        <p:spPr>
          <a:xfrm>
            <a:off x="1276351" y="3467035"/>
            <a:ext cx="323850" cy="326898"/>
          </a:xfrm>
          <a:prstGeom prst="flowChartDecision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EA9AED0-171D-B2AC-6A0C-29BA044E9982}"/>
              </a:ext>
            </a:extLst>
          </p:cNvPr>
          <p:cNvSpPr txBox="1"/>
          <p:nvPr/>
        </p:nvSpPr>
        <p:spPr>
          <a:xfrm>
            <a:off x="1162050" y="4383757"/>
            <a:ext cx="10503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Contrôle d’accès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mécanisme de sécurité qui définit et applique des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politiques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(règles) pour autoriser ou restreindre l’accès aux ressources.</a:t>
            </a:r>
          </a:p>
        </p:txBody>
      </p:sp>
      <p:sp>
        <p:nvSpPr>
          <p:cNvPr id="21" name="Organigramme : Décision 20">
            <a:extLst>
              <a:ext uri="{FF2B5EF4-FFF2-40B4-BE49-F238E27FC236}">
                <a16:creationId xmlns:a16="http://schemas.microsoft.com/office/drawing/2014/main" id="{CC987319-1CAE-393C-FE7A-F3263693A261}"/>
              </a:ext>
            </a:extLst>
          </p:cNvPr>
          <p:cNvSpPr/>
          <p:nvPr/>
        </p:nvSpPr>
        <p:spPr>
          <a:xfrm>
            <a:off x="1276351" y="4464256"/>
            <a:ext cx="323850" cy="326898"/>
          </a:xfrm>
          <a:prstGeom prst="flowChartDecision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709FE52-B0F5-EDAA-BD94-CD6476BA5A3D}"/>
              </a:ext>
            </a:extLst>
          </p:cNvPr>
          <p:cNvSpPr txBox="1"/>
          <p:nvPr/>
        </p:nvSpPr>
        <p:spPr>
          <a:xfrm>
            <a:off x="1162049" y="5390503"/>
            <a:ext cx="100774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Environnement dynamique et hétérogène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dans lequel les entités    </a:t>
            </a: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changent fréquemment (dynamique) et présentent des caractéristiques  </a:t>
            </a: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variées (hétérogène).</a:t>
            </a:r>
          </a:p>
        </p:txBody>
      </p:sp>
      <p:sp>
        <p:nvSpPr>
          <p:cNvPr id="24" name="Organigramme : Décision 23">
            <a:extLst>
              <a:ext uri="{FF2B5EF4-FFF2-40B4-BE49-F238E27FC236}">
                <a16:creationId xmlns:a16="http://schemas.microsoft.com/office/drawing/2014/main" id="{54B9CF74-375B-AF9C-7495-8B5F62E0D0E7}"/>
              </a:ext>
            </a:extLst>
          </p:cNvPr>
          <p:cNvSpPr/>
          <p:nvPr/>
        </p:nvSpPr>
        <p:spPr>
          <a:xfrm>
            <a:off x="1266826" y="5456985"/>
            <a:ext cx="323850" cy="326898"/>
          </a:xfrm>
          <a:prstGeom prst="flowChartDecision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89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52B9EB-9BF7-5C64-109E-BB5FBC7A8B9F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 ABE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AD431CD-2885-EBDA-6692-EE430ED10751}"/>
              </a:ext>
            </a:extLst>
          </p:cNvPr>
          <p:cNvSpPr txBox="1"/>
          <p:nvPr/>
        </p:nvSpPr>
        <p:spPr>
          <a:xfrm>
            <a:off x="129539" y="992875"/>
            <a:ext cx="5960543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Cette architecture illustre les quatre entités fondamentales du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Chiffrement basé sur les Attributs (ABE)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Autorité de confiance :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génère les paramètres du système. Elle transmet la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clé publique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propriétaire pour le chiffrement et délivre des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clés secrètes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personnalisées aux utilisateurs en fonction de leurs attributs.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Propriétaire des données :</a:t>
            </a:r>
          </a:p>
          <a:p>
            <a:pPr lvl="2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transforme les données en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texte chiffré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utilisant la clé publique. C'est à cette étape que la politique d'accès est généralement définie.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Cloud :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sert de plateforme de stockage intermédiaire. Il reçoit le texte chiffré et le transmet aux utilisateurs sans jamais pouvoir lire le contenu en clair (aspect "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Zero-Trust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Utilisateurs des données :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 récupèrent le texte chiffré depuis le cloud. Le déchiffrement ne réussit que si la condition de l’un des schémas de ABE est vérifiée.	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DB4505-A6AD-2EF2-5D45-EC3588FB0E97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18E3D96-C73F-66A0-3FB4-8DA525A1BF0D}"/>
              </a:ext>
            </a:extLst>
          </p:cNvPr>
          <p:cNvSpPr txBox="1"/>
          <p:nvPr/>
        </p:nvSpPr>
        <p:spPr>
          <a:xfrm>
            <a:off x="7572654" y="6207321"/>
            <a:ext cx="3562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Figure 1 : Architecture de ABE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605CCA-ED19-4F64-3EB3-292EB4011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757" y="1058753"/>
            <a:ext cx="5485953" cy="4966874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9159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81F28-5CA3-DE9E-A99A-3CB9FA179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7A75F6-FC91-1782-7637-37DAF9568A14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Schémas de ABE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1AFC101F-8DD7-74AA-186E-BE2C545E0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021990"/>
              </p:ext>
            </p:extLst>
          </p:nvPr>
        </p:nvGraphicFramePr>
        <p:xfrm>
          <a:off x="266700" y="1336509"/>
          <a:ext cx="11487150" cy="5468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75">
                  <a:extLst>
                    <a:ext uri="{9D8B030D-6E8A-4147-A177-3AD203B41FA5}">
                      <a16:colId xmlns:a16="http://schemas.microsoft.com/office/drawing/2014/main" val="2859037318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720582411"/>
                    </a:ext>
                  </a:extLst>
                </a:gridCol>
                <a:gridCol w="4962525">
                  <a:extLst>
                    <a:ext uri="{9D8B030D-6E8A-4147-A177-3AD203B41FA5}">
                      <a16:colId xmlns:a16="http://schemas.microsoft.com/office/drawing/2014/main" val="83392220"/>
                    </a:ext>
                  </a:extLst>
                </a:gridCol>
              </a:tblGrid>
              <a:tr h="619180">
                <a:tc>
                  <a:txBody>
                    <a:bodyPr/>
                    <a:lstStyle/>
                    <a:p>
                      <a:pPr algn="l"/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Schémas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KP-ABE</a:t>
                      </a:r>
                    </a:p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(key-policy)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CP-ABE</a:t>
                      </a:r>
                    </a:p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(Ciphertext-policy)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981933"/>
                  </a:ext>
                </a:extLst>
              </a:tr>
              <a:tr h="1047935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Fonctionnement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277662"/>
                  </a:ext>
                </a:extLst>
              </a:tr>
              <a:tr h="762688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Chiffrement</a:t>
                      </a:r>
                      <a:endParaRPr lang="fr-F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chiffreur associe des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attributs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 message.</a:t>
                      </a:r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chiffreur définit une politique logique (AND, OR) et chiffre le message selon cette politique.</a:t>
                      </a:r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090245"/>
                  </a:ext>
                </a:extLst>
              </a:tr>
              <a:tr h="884543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Déchiffrement</a:t>
                      </a:r>
                      <a:endParaRPr lang="fr-F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L’utilisateur peut déchiffrer si ses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attributs dans le chiffré </a:t>
                      </a:r>
                      <a:r>
                        <a:rPr lang="fr-FR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correspondent à la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politique de sa clé privée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L’utilisateur peut déchiffrer si les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attributs de sa clé </a:t>
                      </a:r>
                      <a:r>
                        <a:rPr lang="fr-FR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satisfont la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politique du ciphertext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133628"/>
                  </a:ext>
                </a:extLst>
              </a:tr>
              <a:tr h="884543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Exemple</a:t>
                      </a:r>
                      <a:endParaRPr lang="fr-F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Clé privée : (médecin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cardio)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Données chiffrées avec attributs :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médecin, cardio.</a:t>
                      </a:r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Clé privée contient attributs : médecin </a:t>
                      </a:r>
                      <a:r>
                        <a:rPr lang="fr-F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cardio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Données chiffrées avec la politique : 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(médecin </a:t>
                      </a:r>
                      <a:r>
                        <a:rPr lang="fr-F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cardio).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012794"/>
                  </a:ext>
                </a:extLst>
              </a:tr>
              <a:tr h="1149906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 dans IoT</a:t>
                      </a:r>
                      <a:endParaRPr lang="fr-F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capteurs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chiffrent les données. L'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autorité de confiance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génère des clés liées à des politiques d'accès, et le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sert de relais de stockage sécurisé.</a:t>
                      </a:r>
                      <a:endParaRPr lang="fr-FR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capteur IoT ou l’émetteur de données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décide qui peut accéder aux données via la politique d’accès intégrée au texte chiffré.</a:t>
                      </a:r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869921"/>
                  </a:ext>
                </a:extLst>
              </a:tr>
            </a:tbl>
          </a:graphicData>
        </a:graphic>
      </p:graphicFrame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137DEB7-C791-1B21-18D1-2B5199164898}"/>
              </a:ext>
            </a:extLst>
          </p:cNvPr>
          <p:cNvSpPr/>
          <p:nvPr/>
        </p:nvSpPr>
        <p:spPr>
          <a:xfrm>
            <a:off x="2435533" y="2197962"/>
            <a:ext cx="1771650" cy="6477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</a:t>
            </a:r>
          </a:p>
          <a:p>
            <a:pPr algn="ctr"/>
            <a:r>
              <a:rPr lang="fr-F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(PK + MK 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7B8C7D0-C0C8-A378-58B2-F2E2817CF64A}"/>
              </a:ext>
            </a:extLst>
          </p:cNvPr>
          <p:cNvSpPr/>
          <p:nvPr/>
        </p:nvSpPr>
        <p:spPr>
          <a:xfrm>
            <a:off x="4640561" y="2197961"/>
            <a:ext cx="1864525" cy="6477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Génération</a:t>
            </a:r>
          </a:p>
          <a:p>
            <a:pPr algn="ctr"/>
            <a:r>
              <a:rPr lang="fr-F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(Clé privée)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(MK)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D72E10D-0FEC-8F54-2ED8-BC8B9A42D5CF}"/>
              </a:ext>
            </a:extLst>
          </p:cNvPr>
          <p:cNvSpPr/>
          <p:nvPr/>
        </p:nvSpPr>
        <p:spPr>
          <a:xfrm>
            <a:off x="6974186" y="2178910"/>
            <a:ext cx="2443171" cy="64770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Chiffrement</a:t>
            </a:r>
          </a:p>
          <a:p>
            <a:pPr algn="ctr"/>
            <a:r>
              <a:rPr lang="fr-F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(Attributs/Politique)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(PK)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39A3318-FEE3-50F5-DB2F-36CBDB69B05D}"/>
              </a:ext>
            </a:extLst>
          </p:cNvPr>
          <p:cNvSpPr/>
          <p:nvPr/>
        </p:nvSpPr>
        <p:spPr>
          <a:xfrm>
            <a:off x="9893607" y="2197962"/>
            <a:ext cx="1771650" cy="64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Déchiffrement</a:t>
            </a:r>
          </a:p>
          <a:p>
            <a:pPr algn="ctr"/>
            <a:r>
              <a:rPr lang="fr-F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(Clé privée)</a:t>
            </a:r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41370496-9532-FAF3-A8E6-787BC9227749}"/>
              </a:ext>
            </a:extLst>
          </p:cNvPr>
          <p:cNvSpPr/>
          <p:nvPr/>
        </p:nvSpPr>
        <p:spPr>
          <a:xfrm>
            <a:off x="4271472" y="2450371"/>
            <a:ext cx="304800" cy="2190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0CCDE134-F958-B36F-55D8-7176FD7FF1E3}"/>
              </a:ext>
            </a:extLst>
          </p:cNvPr>
          <p:cNvSpPr/>
          <p:nvPr/>
        </p:nvSpPr>
        <p:spPr>
          <a:xfrm>
            <a:off x="6593195" y="2450371"/>
            <a:ext cx="304800" cy="2190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015CB9A7-C5AF-9E37-8227-DFFD0B9A2CF4}"/>
              </a:ext>
            </a:extLst>
          </p:cNvPr>
          <p:cNvSpPr/>
          <p:nvPr/>
        </p:nvSpPr>
        <p:spPr>
          <a:xfrm>
            <a:off x="9503082" y="2450375"/>
            <a:ext cx="304800" cy="2190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CB3DEF-AD26-7B41-FB8E-5FE96D9C2796}"/>
              </a:ext>
            </a:extLst>
          </p:cNvPr>
          <p:cNvSpPr/>
          <p:nvPr/>
        </p:nvSpPr>
        <p:spPr>
          <a:xfrm>
            <a:off x="11665257" y="6410215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FC7504-17E3-F8FF-8E13-1E8353790B87}"/>
              </a:ext>
            </a:extLst>
          </p:cNvPr>
          <p:cNvSpPr txBox="1"/>
          <p:nvPr/>
        </p:nvSpPr>
        <p:spPr>
          <a:xfrm>
            <a:off x="171450" y="862915"/>
            <a:ext cx="90718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Comparaison des schémas de chiffrement basé sur les attributs : KP-ABE vs CP-ABE</a:t>
            </a:r>
          </a:p>
        </p:txBody>
      </p:sp>
    </p:spTree>
    <p:extLst>
      <p:ext uri="{BB962C8B-B14F-4D97-AF65-F5344CB8AC3E}">
        <p14:creationId xmlns:p14="http://schemas.microsoft.com/office/powerpoint/2010/main" val="164731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A2C4A-6074-A821-55BF-EA3B4AEC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59F15B-77BA-51D0-266A-A338E5047B57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A7D69-39F0-23A6-04BE-76486FBC555F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Schéma KP-ABE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069E012-8029-582C-13B2-FD2E2FA70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9"/>
          <a:stretch>
            <a:fillRect/>
          </a:stretch>
        </p:blipFill>
        <p:spPr>
          <a:xfrm>
            <a:off x="1147326" y="788594"/>
            <a:ext cx="9885511" cy="55071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E0D1BB7-E820-C24A-99D4-A8DD8BC55251}"/>
              </a:ext>
            </a:extLst>
          </p:cNvPr>
          <p:cNvSpPr txBox="1"/>
          <p:nvPr/>
        </p:nvSpPr>
        <p:spPr>
          <a:xfrm>
            <a:off x="4225773" y="6295787"/>
            <a:ext cx="3597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Figure 2 : Processus de KP-ABE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8BC16-3C0D-06F5-067B-ECB768DF8EE6}"/>
              </a:ext>
            </a:extLst>
          </p:cNvPr>
          <p:cNvSpPr/>
          <p:nvPr/>
        </p:nvSpPr>
        <p:spPr>
          <a:xfrm>
            <a:off x="2299315" y="5220070"/>
            <a:ext cx="390618" cy="2840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BE9E9-6380-FBE1-C352-862456BD3788}"/>
              </a:ext>
            </a:extLst>
          </p:cNvPr>
          <p:cNvSpPr/>
          <p:nvPr/>
        </p:nvSpPr>
        <p:spPr>
          <a:xfrm>
            <a:off x="6275458" y="5220070"/>
            <a:ext cx="390618" cy="2840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0C8373-1518-CC84-6AD0-6A7E9BBBB650}"/>
              </a:ext>
            </a:extLst>
          </p:cNvPr>
          <p:cNvSpPr/>
          <p:nvPr/>
        </p:nvSpPr>
        <p:spPr>
          <a:xfrm>
            <a:off x="2299315" y="2037425"/>
            <a:ext cx="390618" cy="2840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E81BF-0750-A628-1935-7FA400A5296D}"/>
              </a:ext>
            </a:extLst>
          </p:cNvPr>
          <p:cNvSpPr/>
          <p:nvPr/>
        </p:nvSpPr>
        <p:spPr>
          <a:xfrm>
            <a:off x="6164485" y="2064059"/>
            <a:ext cx="390618" cy="2840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8C2C9D-F3E3-A3BB-5D72-3E5E93CBF932}"/>
              </a:ext>
            </a:extLst>
          </p:cNvPr>
          <p:cNvSpPr/>
          <p:nvPr/>
        </p:nvSpPr>
        <p:spPr>
          <a:xfrm>
            <a:off x="2388093" y="3107184"/>
            <a:ext cx="2689934" cy="284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74C910-4ABD-8530-5A0C-0FE055207546}"/>
              </a:ext>
            </a:extLst>
          </p:cNvPr>
          <p:cNvSpPr/>
          <p:nvPr/>
        </p:nvSpPr>
        <p:spPr>
          <a:xfrm>
            <a:off x="2388093" y="3502999"/>
            <a:ext cx="2689934" cy="2840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59CD6-DFBB-6396-1C1B-054ED7350D6B}"/>
              </a:ext>
            </a:extLst>
          </p:cNvPr>
          <p:cNvSpPr/>
          <p:nvPr/>
        </p:nvSpPr>
        <p:spPr>
          <a:xfrm>
            <a:off x="8389398" y="951390"/>
            <a:ext cx="914400" cy="424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6F450-C7CF-208D-565D-FB7672288900}"/>
              </a:ext>
            </a:extLst>
          </p:cNvPr>
          <p:cNvSpPr/>
          <p:nvPr/>
        </p:nvSpPr>
        <p:spPr>
          <a:xfrm>
            <a:off x="8389398" y="1424105"/>
            <a:ext cx="914400" cy="41725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54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2" grpId="0" animBg="1"/>
      <p:bldP spid="13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6310-F01B-40F9-FB5B-3AE29A53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71CB8D-3E01-9C66-A46E-6A3B08DB9ADB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BEDD55-17B1-1FC3-B84C-1B7CD9D4DB76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Schéma CP-ABE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A395897-E033-34F7-3586-69725A0E8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4" r="13044" b="8285"/>
          <a:stretch>
            <a:fillRect/>
          </a:stretch>
        </p:blipFill>
        <p:spPr>
          <a:xfrm>
            <a:off x="745725" y="792200"/>
            <a:ext cx="10338647" cy="52712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6B44B60-D4FA-12D4-A52A-4EFE02899DEA}"/>
              </a:ext>
            </a:extLst>
          </p:cNvPr>
          <p:cNvSpPr txBox="1"/>
          <p:nvPr/>
        </p:nvSpPr>
        <p:spPr>
          <a:xfrm>
            <a:off x="4092607" y="6180947"/>
            <a:ext cx="3597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Figure 3 : Processus de CP-ABE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293F6-F8DF-F86A-D8A4-59E7B9704E92}"/>
              </a:ext>
            </a:extLst>
          </p:cNvPr>
          <p:cNvSpPr/>
          <p:nvPr/>
        </p:nvSpPr>
        <p:spPr>
          <a:xfrm>
            <a:off x="2219416" y="5086903"/>
            <a:ext cx="390618" cy="28408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1F872-8C1F-310F-E6F8-18260AE3F391}"/>
              </a:ext>
            </a:extLst>
          </p:cNvPr>
          <p:cNvSpPr/>
          <p:nvPr/>
        </p:nvSpPr>
        <p:spPr>
          <a:xfrm>
            <a:off x="6146729" y="5069148"/>
            <a:ext cx="390618" cy="28408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0489F9-E1DF-5C27-C137-AAD619384337}"/>
              </a:ext>
            </a:extLst>
          </p:cNvPr>
          <p:cNvSpPr/>
          <p:nvPr/>
        </p:nvSpPr>
        <p:spPr>
          <a:xfrm>
            <a:off x="2183904" y="2019669"/>
            <a:ext cx="390618" cy="28408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C196EB-8363-25A5-80A4-9E3C26803CE5}"/>
              </a:ext>
            </a:extLst>
          </p:cNvPr>
          <p:cNvSpPr/>
          <p:nvPr/>
        </p:nvSpPr>
        <p:spPr>
          <a:xfrm>
            <a:off x="6111217" y="2010792"/>
            <a:ext cx="390618" cy="28408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8504729-A1A5-D8B9-6F7B-448E7A537861}"/>
              </a:ext>
            </a:extLst>
          </p:cNvPr>
          <p:cNvSpPr/>
          <p:nvPr/>
        </p:nvSpPr>
        <p:spPr>
          <a:xfrm>
            <a:off x="2465454" y="3240350"/>
            <a:ext cx="3681275" cy="18110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A13046C-0710-213E-AB1B-BE9703079D3F}"/>
              </a:ext>
            </a:extLst>
          </p:cNvPr>
          <p:cNvCxnSpPr/>
          <p:nvPr/>
        </p:nvCxnSpPr>
        <p:spPr>
          <a:xfrm flipH="1">
            <a:off x="10715348" y="2192784"/>
            <a:ext cx="292963" cy="0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146B0C0-9FBD-E8F2-97DE-D128CD6B62E0}"/>
              </a:ext>
            </a:extLst>
          </p:cNvPr>
          <p:cNvCxnSpPr/>
          <p:nvPr/>
        </p:nvCxnSpPr>
        <p:spPr>
          <a:xfrm flipH="1">
            <a:off x="10734582" y="2718047"/>
            <a:ext cx="292963" cy="0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20148BB-3AEE-49E5-FDF8-7774898F37C4}"/>
              </a:ext>
            </a:extLst>
          </p:cNvPr>
          <p:cNvCxnSpPr/>
          <p:nvPr/>
        </p:nvCxnSpPr>
        <p:spPr>
          <a:xfrm flipH="1">
            <a:off x="10753815" y="3119023"/>
            <a:ext cx="29296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97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78CA-AE66-EB61-E232-653329A1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FC80BE5-3628-BF48-B11F-4D093FFC5526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B406B9-16B9-1089-5785-712F858928D6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et améliorations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64761888-E7DB-6F18-8FFA-8FCCC73FA248}"/>
              </a:ext>
            </a:extLst>
          </p:cNvPr>
          <p:cNvGraphicFramePr>
            <a:graphicFrameLocks noGrp="1"/>
          </p:cNvGraphicFramePr>
          <p:nvPr/>
        </p:nvGraphicFramePr>
        <p:xfrm>
          <a:off x="446843" y="1651909"/>
          <a:ext cx="11286478" cy="4384887"/>
        </p:xfrm>
        <a:graphic>
          <a:graphicData uri="http://schemas.openxmlformats.org/drawingml/2006/table">
            <a:tbl>
              <a:tblPr/>
              <a:tblGrid>
                <a:gridCol w="2185462">
                  <a:extLst>
                    <a:ext uri="{9D8B030D-6E8A-4147-A177-3AD203B41FA5}">
                      <a16:colId xmlns:a16="http://schemas.microsoft.com/office/drawing/2014/main" val="1899326622"/>
                    </a:ext>
                  </a:extLst>
                </a:gridCol>
                <a:gridCol w="3561268">
                  <a:extLst>
                    <a:ext uri="{9D8B030D-6E8A-4147-A177-3AD203B41FA5}">
                      <a16:colId xmlns:a16="http://schemas.microsoft.com/office/drawing/2014/main" val="4088612732"/>
                    </a:ext>
                  </a:extLst>
                </a:gridCol>
                <a:gridCol w="2328520">
                  <a:extLst>
                    <a:ext uri="{9D8B030D-6E8A-4147-A177-3AD203B41FA5}">
                      <a16:colId xmlns:a16="http://schemas.microsoft.com/office/drawing/2014/main" val="1562893178"/>
                    </a:ext>
                  </a:extLst>
                </a:gridCol>
                <a:gridCol w="3211228">
                  <a:extLst>
                    <a:ext uri="{9D8B030D-6E8A-4147-A177-3AD203B41FA5}">
                      <a16:colId xmlns:a16="http://schemas.microsoft.com/office/drawing/2014/main" val="3374813364"/>
                    </a:ext>
                  </a:extLst>
                </a:gridCol>
              </a:tblGrid>
              <a:tr h="423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Problème / Limite</a:t>
                      </a:r>
                      <a:endParaRPr lang="fr-FR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Technique</a:t>
                      </a:r>
                      <a:endParaRPr lang="fr-FR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Préconisée</a:t>
                      </a:r>
                      <a:endParaRPr lang="fr-FR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Fonctionnement de la Solution</a:t>
                      </a:r>
                      <a:endParaRPr lang="fr-FR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13349"/>
                  </a:ext>
                </a:extLst>
              </a:tr>
              <a:tr h="96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 des données</a:t>
                      </a:r>
                      <a:endParaRPr lang="fr-FR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L'ABE est mathématiquement lourd. Chiffrer un gros fichier directement ralentit tout le système.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Chiffrement Hybride</a:t>
                      </a:r>
                      <a:endParaRPr lang="fr-FR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chiffre la donnée avec </a:t>
                      </a: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</a:t>
                      </a: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(rapide) et on chiffre uniquement la clé AES avec l'</a:t>
                      </a: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ABE</a:t>
                      </a: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59910"/>
                  </a:ext>
                </a:extLst>
              </a:tr>
              <a:tr h="96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Consommation CPU (Capteurs)</a:t>
                      </a:r>
                      <a:endParaRPr lang="fr-FR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capteurs IoT n'ont pas assez de puissance pour les calculs de couplages bilinéaires(ABE).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Outsourcing (Externalisation)</a:t>
                      </a:r>
                      <a:endParaRPr lang="fr-FR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capteur délègue la partie lourde du calcul à un serveur </a:t>
                      </a: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</a:t>
                      </a: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ou au </a:t>
                      </a:r>
                      <a:r>
                        <a:rPr lang="fr-FR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via un pré-chiffrement.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26813"/>
                  </a:ext>
                </a:extLst>
              </a:tr>
              <a:tr h="96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Taille du Ciphertext</a:t>
                      </a:r>
                      <a:endParaRPr lang="fr-FR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message chiffré augmente selon le nombre d'attributs, surchargeant la bande passante.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Schémas à taille constante</a:t>
                      </a:r>
                      <a:endParaRPr lang="fr-FR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Utilisation de variantes ABE où la taille du chiffré reste fixe, quel que soit le nombre d'attributs.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373577"/>
                  </a:ext>
                </a:extLst>
              </a:tr>
              <a:tr h="787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du Big Data</a:t>
                      </a:r>
                      <a:endParaRPr lang="fr-FR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Impossible de chercher une info spécifique dans une masse de données chiffrées.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Searchable Encryption (VABKS)</a:t>
                      </a:r>
                      <a:endParaRPr lang="fr-FR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Ajout de métadonnées chiffrées permettant au Cloud de filtrer les fichiers sans les lire.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2846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0E0066FA-E40C-98D9-F136-27380045A903}"/>
              </a:ext>
            </a:extLst>
          </p:cNvPr>
          <p:cNvSpPr txBox="1"/>
          <p:nvPr/>
        </p:nvSpPr>
        <p:spPr>
          <a:xfrm>
            <a:off x="361950" y="1078972"/>
            <a:ext cx="6990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Synthèse des limites de l'ABE et solutions techniques préconisées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DEC41EA-2448-EE77-0016-0EE52B2DEA7C}"/>
              </a:ext>
            </a:extLst>
          </p:cNvPr>
          <p:cNvSpPr/>
          <p:nvPr/>
        </p:nvSpPr>
        <p:spPr>
          <a:xfrm>
            <a:off x="39394" y="2401411"/>
            <a:ext cx="322556" cy="32847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51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558C-025D-8478-9B3F-1C82B716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2BFA59-02D4-6FF2-F03E-806C9DBC4E3E}"/>
              </a:ext>
            </a:extLst>
          </p:cNvPr>
          <p:cNvSpPr/>
          <p:nvPr/>
        </p:nvSpPr>
        <p:spPr>
          <a:xfrm>
            <a:off x="11665257" y="6409678"/>
            <a:ext cx="514907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1450D7-10CC-6450-8F08-B1290F8BEC0C}"/>
              </a:ext>
            </a:extLst>
          </p:cNvPr>
          <p:cNvSpPr/>
          <p:nvPr/>
        </p:nvSpPr>
        <p:spPr>
          <a:xfrm>
            <a:off x="0" y="0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et améliorations</a:t>
            </a:r>
          </a:p>
        </p:txBody>
      </p:sp>
      <p:pic>
        <p:nvPicPr>
          <p:cNvPr id="4" name="Code_CfJqp8evjd">
            <a:hlinkClick r:id="" action="ppaction://media"/>
            <a:extLst>
              <a:ext uri="{FF2B5EF4-FFF2-40B4-BE49-F238E27FC236}">
                <a16:creationId xmlns:a16="http://schemas.microsoft.com/office/drawing/2014/main" id="{A88C9276-D3A2-CD2E-2898-09F26194ED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7943" y="796196"/>
            <a:ext cx="5617554" cy="5524705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6" name="Code_7UErRdVsNI">
            <a:hlinkClick r:id="" action="ppaction://media"/>
            <a:extLst>
              <a:ext uri="{FF2B5EF4-FFF2-40B4-BE49-F238E27FC236}">
                <a16:creationId xmlns:a16="http://schemas.microsoft.com/office/drawing/2014/main" id="{F2EC84AB-5657-7CBC-70D1-957A4630AF3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66004" y="796196"/>
            <a:ext cx="5416395" cy="5524706"/>
          </a:xfrm>
          <a:prstGeom prst="rect">
            <a:avLst/>
          </a:prstGeom>
          <a:ln w="57150">
            <a:solidFill>
              <a:srgbClr val="00FF00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255427-0579-AD96-6787-7E101FF53D31}"/>
              </a:ext>
            </a:extLst>
          </p:cNvPr>
          <p:cNvSpPr/>
          <p:nvPr/>
        </p:nvSpPr>
        <p:spPr>
          <a:xfrm>
            <a:off x="2111222" y="1584803"/>
            <a:ext cx="7829549" cy="4187347"/>
          </a:xfrm>
          <a:prstGeom prst="rect">
            <a:avLst/>
          </a:prstGeom>
          <a:solidFill>
            <a:srgbClr val="0070C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Accélération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Hybride </a:t>
            </a:r>
            <a:r>
              <a:rPr lang="fr-FR" sz="4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x210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rapide que ABE seul</a:t>
            </a:r>
          </a:p>
          <a:p>
            <a:pPr algn="ctr"/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Efficacité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Hybride ne prend que </a:t>
            </a:r>
            <a:r>
              <a:rPr lang="fr-FR" sz="4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0,5% 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temps initial(ABE seul)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9BAD8AB-312F-8C7A-90D7-315643B977AB}"/>
              </a:ext>
            </a:extLst>
          </p:cNvPr>
          <p:cNvSpPr txBox="1"/>
          <p:nvPr/>
        </p:nvSpPr>
        <p:spPr>
          <a:xfrm>
            <a:off x="334832" y="6409678"/>
            <a:ext cx="553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Figure 4 : Chiffrement ABE appliqué sur une image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EB4083F-C903-8860-9C81-B8008A8F9DC2}"/>
              </a:ext>
            </a:extLst>
          </p:cNvPr>
          <p:cNvSpPr txBox="1"/>
          <p:nvPr/>
        </p:nvSpPr>
        <p:spPr>
          <a:xfrm>
            <a:off x="6248862" y="6409678"/>
            <a:ext cx="5416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Figure 5 : Chiffrement hybride appliqué sur une image </a:t>
            </a:r>
          </a:p>
        </p:txBody>
      </p:sp>
    </p:spTree>
    <p:extLst>
      <p:ext uri="{BB962C8B-B14F-4D97-AF65-F5344CB8AC3E}">
        <p14:creationId xmlns:p14="http://schemas.microsoft.com/office/powerpoint/2010/main" val="151642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6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5346-7BEB-269D-7793-C4E8B582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5A50B1-BBE3-F520-9BE3-432A2C79DD6C}"/>
              </a:ext>
            </a:extLst>
          </p:cNvPr>
          <p:cNvSpPr/>
          <p:nvPr/>
        </p:nvSpPr>
        <p:spPr>
          <a:xfrm>
            <a:off x="0" y="-4787"/>
            <a:ext cx="12180164" cy="6747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: architecture et rôles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0069F-AA83-7F3D-0A89-4D9B9BEBB174}"/>
              </a:ext>
            </a:extLst>
          </p:cNvPr>
          <p:cNvSpPr/>
          <p:nvPr/>
        </p:nvSpPr>
        <p:spPr>
          <a:xfrm>
            <a:off x="11495763" y="6409678"/>
            <a:ext cx="684401" cy="4483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288F3D5-C4CF-6708-DC5A-5DF3D6B7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16" y="705714"/>
            <a:ext cx="11517332" cy="5668166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528F8B4-E1E6-FC19-0B74-786F53F73F2A}"/>
              </a:ext>
            </a:extLst>
          </p:cNvPr>
          <p:cNvSpPr txBox="1"/>
          <p:nvPr/>
        </p:nvSpPr>
        <p:spPr>
          <a:xfrm>
            <a:off x="3992432" y="6264507"/>
            <a:ext cx="553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Figure 6 : Conception de la simulation </a:t>
            </a:r>
          </a:p>
        </p:txBody>
      </p:sp>
    </p:spTree>
    <p:extLst>
      <p:ext uri="{BB962C8B-B14F-4D97-AF65-F5344CB8AC3E}">
        <p14:creationId xmlns:p14="http://schemas.microsoft.com/office/powerpoint/2010/main" val="322962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979</Words>
  <Application>Microsoft Office PowerPoint</Application>
  <PresentationFormat>Grand écran</PresentationFormat>
  <Paragraphs>143</Paragraphs>
  <Slides>11</Slides>
  <Notes>5</Notes>
  <HiddenSlides>0</HiddenSlides>
  <MMClips>2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Parcours Professionnel</dc:creator>
  <cp:lastModifiedBy>Parcours Professionnel</cp:lastModifiedBy>
  <cp:revision>273</cp:revision>
  <dcterms:created xsi:type="dcterms:W3CDTF">2026-04-08T05:03:43Z</dcterms:created>
  <dcterms:modified xsi:type="dcterms:W3CDTF">2026-04-18T21:54:30Z</dcterms:modified>
</cp:coreProperties>
</file>